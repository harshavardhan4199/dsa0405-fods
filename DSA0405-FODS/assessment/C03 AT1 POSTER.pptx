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71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Math Score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0-20</c:v>
                </c:pt>
                <c:pt idx="1">
                  <c:v>20-40</c:v>
                </c:pt>
                <c:pt idx="2">
                  <c:v>40-60</c:v>
                </c:pt>
                <c:pt idx="3">
                  <c:v>60-80</c:v>
                </c:pt>
                <c:pt idx="4">
                  <c:v>80-100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28</c:v>
                </c:pt>
                <c:pt idx="2">
                  <c:v>65</c:v>
                </c:pt>
                <c:pt idx="3">
                  <c:v>75</c:v>
                </c:pt>
                <c:pt idx="4">
                  <c:v>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Reading Score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0-20</c:v>
                </c:pt>
                <c:pt idx="1">
                  <c:v>20-40</c:v>
                </c:pt>
                <c:pt idx="2">
                  <c:v>40-60</c:v>
                </c:pt>
                <c:pt idx="3">
                  <c:v>60-80</c:v>
                </c:pt>
                <c:pt idx="4">
                  <c:v>80-100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20</c:v>
                </c:pt>
                <c:pt idx="2">
                  <c:v>52</c:v>
                </c:pt>
                <c:pt idx="3">
                  <c:v>80</c:v>
                </c:pt>
                <c:pt idx="4">
                  <c:v>46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Writing Score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0-20</c:v>
                </c:pt>
                <c:pt idx="1">
                  <c:v>20-40</c:v>
                </c:pt>
                <c:pt idx="2">
                  <c:v>40-60</c:v>
                </c:pt>
                <c:pt idx="3">
                  <c:v>60-80</c:v>
                </c:pt>
                <c:pt idx="4">
                  <c:v>80-100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</c:v>
                </c:pt>
                <c:pt idx="1">
                  <c:v>18</c:v>
                </c:pt>
                <c:pt idx="2">
                  <c:v>57</c:v>
                </c:pt>
                <c:pt idx="3">
                  <c:v>78</c:v>
                </c:pt>
                <c:pt idx="4">
                  <c:v>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5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5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55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Math Score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</c:v>
                </c:pt>
                <c:pt idx="1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Reading Score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72</c:v>
                </c:pt>
                <c:pt idx="1">
                  <c:v>54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Writing Score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81</c:v>
                </c:pt>
                <c:pt idx="1">
                  <c:v>55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5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5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55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28</c:v>
                </c:pt>
                <c:pt idx="1">
                  <c:v>35</c:v>
                </c:pt>
                <c:pt idx="2">
                  <c:v>40</c:v>
                </c:pt>
                <c:pt idx="3">
                  <c:v>45</c:v>
                </c:pt>
                <c:pt idx="4">
                  <c:v>49</c:v>
                </c:pt>
                <c:pt idx="5">
                  <c:v>56</c:v>
                </c:pt>
                <c:pt idx="6">
                  <c:v>62</c:v>
                </c:pt>
                <c:pt idx="7">
                  <c:v>68</c:v>
                </c:pt>
                <c:pt idx="8">
                  <c:v>72</c:v>
                </c:pt>
                <c:pt idx="9">
                  <c:v>77</c:v>
                </c:pt>
                <c:pt idx="10">
                  <c:v>83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5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500"/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 School</c:v>
                </c:pt>
                <c:pt idx="1">
                  <c:v>Bachelor’s</c:v>
                </c:pt>
                <c:pt idx="2">
                  <c:v>Master’s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58</c:v>
                </c:pt>
                <c:pt idx="2">
                  <c:v>65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5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5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Sheet1!$A$2:$A$10</c:f>
              <c:numCache>
                <c:formatCode>General</c:formatCode>
                <c:ptCount val="9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72</c:v>
                </c:pt>
                <c:pt idx="1">
                  <c:v>67</c:v>
                </c:pt>
                <c:pt idx="2">
                  <c:v>60</c:v>
                </c:pt>
                <c:pt idx="3">
                  <c:v>57</c:v>
                </c:pt>
                <c:pt idx="4">
                  <c:v>50</c:v>
                </c:pt>
                <c:pt idx="5">
                  <c:v>47</c:v>
                </c:pt>
                <c:pt idx="6">
                  <c:v>43</c:v>
                </c:pt>
                <c:pt idx="7">
                  <c:v>38</c:v>
                </c:pt>
                <c:pt idx="8">
                  <c:v>34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5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500"/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914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00" cy="1325880"/>
          </a:xfrm>
          <a:prstGeom prst="rect">
            <a:avLst/>
          </a:prstGeom>
          <a:solidFill>
            <a:srgbClr val="082B52"/>
          </a:solidFill>
          <a:ln w="1016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8321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Exploratory Data Analysis of Student Academic
Performance Using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768096"/>
            <a:ext cx="78638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ptos"/>
              </a:rPr>
              <a:t>Student performance insights through data exploration, visualization
and statistical analysis to identify key factors affecting academic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137160"/>
            <a:ext cx="731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6488" y="713232"/>
            <a:ext cx="877824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37160"/>
            <a:ext cx="731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36608" y="713232"/>
            <a:ext cx="877824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Pandas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37160"/>
            <a:ext cx="731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96728" y="713232"/>
            <a:ext cx="877824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NumPy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137160"/>
            <a:ext cx="731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56848" y="713232"/>
            <a:ext cx="877824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Matplotlib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90120" y="137160"/>
            <a:ext cx="731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16968" y="713232"/>
            <a:ext cx="877824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Jupyter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" y="1417320"/>
            <a:ext cx="6327648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01168" y="1417320"/>
            <a:ext cx="6327648" cy="292608"/>
          </a:xfrm>
          <a:prstGeom prst="roundRect">
            <a:avLst>
              <a:gd name="adj" fmla="val 8000"/>
            </a:avLst>
          </a:prstGeom>
          <a:solidFill>
            <a:srgbClr val="082B52"/>
          </a:solidFill>
          <a:ln w="1016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1426464"/>
            <a:ext cx="6144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Introduction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" y="1783080"/>
            <a:ext cx="150876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F06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7472" y="1783080"/>
            <a:ext cx="1508760" cy="310896"/>
          </a:xfrm>
          <a:prstGeom prst="roundRect">
            <a:avLst>
              <a:gd name="adj" fmla="val 8000"/>
            </a:avLst>
          </a:prstGeom>
          <a:solidFill>
            <a:srgbClr val="F0651E"/>
          </a:solidFill>
          <a:ln w="10160">
            <a:solidFill>
              <a:srgbClr val="F06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1801368"/>
            <a:ext cx="141731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2167128"/>
            <a:ext cx="1325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232323"/>
                </a:solidFill>
                <a:latin typeface="Aptos"/>
              </a:rPr>
              <a:t>How do various
factors impact
student academic
performance?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7440" y="1783080"/>
            <a:ext cx="150876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499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377440" y="1783080"/>
            <a:ext cx="1508760" cy="310896"/>
          </a:xfrm>
          <a:prstGeom prst="roundRect">
            <a:avLst>
              <a:gd name="adj" fmla="val 8000"/>
            </a:avLst>
          </a:prstGeom>
          <a:solidFill>
            <a:srgbClr val="49965C"/>
          </a:solidFill>
          <a:ln w="10160">
            <a:solidFill>
              <a:srgbClr val="499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23160" y="1801368"/>
            <a:ext cx="141731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Approach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2167128"/>
            <a:ext cx="1325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232323"/>
                </a:solidFill>
                <a:latin typeface="Aptos"/>
              </a:rPr>
              <a:t>Perform EDA using
Python to uncover
patterns, trends
and relationships
in student data.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7408" y="1783080"/>
            <a:ext cx="160020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F5B2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07408" y="1783080"/>
            <a:ext cx="1600200" cy="310896"/>
          </a:xfrm>
          <a:prstGeom prst="roundRect">
            <a:avLst>
              <a:gd name="adj" fmla="val 8000"/>
            </a:avLst>
          </a:prstGeom>
          <a:solidFill>
            <a:srgbClr val="F5B20C"/>
          </a:solidFill>
          <a:ln w="10160">
            <a:solidFill>
              <a:srgbClr val="F5B2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3128" y="1801368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Why EDA?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2167128"/>
            <a:ext cx="1417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232323"/>
                </a:solidFill>
                <a:latin typeface="Aptos"/>
              </a:rPr>
              <a:t>• Understand data
  structure &amp; quality
• Identify key factors
• Provide insights for
  better decisions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1874519" y="2221992"/>
            <a:ext cx="438912" cy="256032"/>
          </a:xfrm>
          <a:prstGeom prst="rightArrow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3904487" y="2221992"/>
            <a:ext cx="438912" cy="256032"/>
          </a:xfrm>
          <a:prstGeom prst="rightArrow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720840" y="1417320"/>
            <a:ext cx="679399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720840" y="1417320"/>
            <a:ext cx="6793992" cy="292608"/>
          </a:xfrm>
          <a:prstGeom prst="roundRect">
            <a:avLst>
              <a:gd name="adj" fmla="val 8000"/>
            </a:avLst>
          </a:prstGeom>
          <a:solidFill>
            <a:srgbClr val="082B52"/>
          </a:solidFill>
          <a:ln w="1016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79" y="1426464"/>
            <a:ext cx="66111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Dataset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39712" y="1783080"/>
            <a:ext cx="1325880" cy="162098"/>
          </a:xfrm>
          <a:prstGeom prst="rect">
            <a:avLst/>
          </a:prstGeom>
          <a:solidFill>
            <a:srgbClr val="EBF3FA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65592" y="1783080"/>
            <a:ext cx="2011680" cy="162098"/>
          </a:xfrm>
          <a:prstGeom prst="rect">
            <a:avLst/>
          </a:prstGeom>
          <a:solidFill>
            <a:srgbClr val="EBF3FA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76288" y="1792224"/>
            <a:ext cx="1252728" cy="143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1">
                <a:solidFill>
                  <a:srgbClr val="232323"/>
                </a:solidFill>
                <a:latin typeface="Aptos"/>
              </a:rPr>
              <a:t>Feature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2167" y="1792224"/>
            <a:ext cx="1938528" cy="143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1">
                <a:solidFill>
                  <a:srgbClr val="232323"/>
                </a:solidFill>
                <a:latin typeface="Aptos"/>
              </a:rPr>
              <a:t>Description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39712" y="1945178"/>
            <a:ext cx="1325880" cy="16209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65592" y="1945178"/>
            <a:ext cx="2011680" cy="16209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76288" y="1954322"/>
            <a:ext cx="1252728" cy="143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>
                <a:solidFill>
                  <a:srgbClr val="232323"/>
                </a:solidFill>
                <a:latin typeface="Aptos"/>
              </a:rPr>
              <a:t>Gender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02167" y="1954322"/>
            <a:ext cx="1938528" cy="143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>
                <a:solidFill>
                  <a:srgbClr val="232323"/>
                </a:solidFill>
                <a:latin typeface="Aptos"/>
              </a:rPr>
              <a:t>Male / Female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39712" y="2107276"/>
            <a:ext cx="1325880" cy="16209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65592" y="2107276"/>
            <a:ext cx="2011680" cy="16209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76288" y="2116420"/>
            <a:ext cx="1252728" cy="143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>
                <a:solidFill>
                  <a:srgbClr val="232323"/>
                </a:solidFill>
                <a:latin typeface="Aptos"/>
              </a:rPr>
              <a:t>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02167" y="2116420"/>
            <a:ext cx="1938528" cy="143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>
                <a:solidFill>
                  <a:srgbClr val="232323"/>
                </a:solidFill>
                <a:latin typeface="Aptos"/>
              </a:rPr>
              <a:t>Age of the student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39712" y="2269374"/>
            <a:ext cx="1325880" cy="16209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65592" y="2269374"/>
            <a:ext cx="2011680" cy="16209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76288" y="2278518"/>
            <a:ext cx="1252728" cy="143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>
                <a:solidFill>
                  <a:srgbClr val="232323"/>
                </a:solidFill>
                <a:latin typeface="Aptos"/>
              </a:rPr>
              <a:t>Parental Education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02167" y="2278518"/>
            <a:ext cx="1938528" cy="143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>
                <a:solidFill>
                  <a:srgbClr val="232323"/>
                </a:solidFill>
                <a:latin typeface="Aptos"/>
              </a:rPr>
              <a:t>Education level of parents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39712" y="2431472"/>
            <a:ext cx="1325880" cy="16209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65592" y="2431472"/>
            <a:ext cx="2011680" cy="16209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76288" y="2440616"/>
            <a:ext cx="1252728" cy="143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>
                <a:solidFill>
                  <a:srgbClr val="232323"/>
                </a:solidFill>
                <a:latin typeface="Aptos"/>
              </a:rPr>
              <a:t>Study Time (hrs/day)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02167" y="2440616"/>
            <a:ext cx="1938528" cy="143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>
                <a:solidFill>
                  <a:srgbClr val="232323"/>
                </a:solidFill>
                <a:latin typeface="Aptos"/>
              </a:rPr>
              <a:t>Daily study hours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39712" y="2593570"/>
            <a:ext cx="1325880" cy="16209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65592" y="2593570"/>
            <a:ext cx="2011680" cy="16209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76288" y="2602714"/>
            <a:ext cx="1252728" cy="143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>
                <a:solidFill>
                  <a:srgbClr val="232323"/>
                </a:solidFill>
                <a:latin typeface="Aptos"/>
              </a:rPr>
              <a:t>Absences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02167" y="2602714"/>
            <a:ext cx="1938528" cy="143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>
                <a:solidFill>
                  <a:srgbClr val="232323"/>
                </a:solidFill>
                <a:latin typeface="Aptos"/>
              </a:rPr>
              <a:t>Number of school absences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39712" y="2755669"/>
            <a:ext cx="1325880" cy="16209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65592" y="2755669"/>
            <a:ext cx="2011680" cy="16209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76288" y="2764813"/>
            <a:ext cx="1252728" cy="143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>
                <a:solidFill>
                  <a:srgbClr val="232323"/>
                </a:solidFill>
                <a:latin typeface="Aptos"/>
              </a:rPr>
              <a:t>Tutoring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02167" y="2764813"/>
            <a:ext cx="1938528" cy="143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>
                <a:solidFill>
                  <a:srgbClr val="232323"/>
                </a:solidFill>
                <a:latin typeface="Aptos"/>
              </a:rPr>
              <a:t>Whether student takes tutoring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39712" y="2917767"/>
            <a:ext cx="1325880" cy="16209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65592" y="2917767"/>
            <a:ext cx="2011680" cy="16209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76288" y="2926911"/>
            <a:ext cx="1252728" cy="143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>
                <a:solidFill>
                  <a:srgbClr val="232323"/>
                </a:solidFill>
                <a:latin typeface="Aptos"/>
              </a:rPr>
              <a:t>Extracurricular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02167" y="2926911"/>
            <a:ext cx="1938528" cy="143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>
                <a:solidFill>
                  <a:srgbClr val="232323"/>
                </a:solidFill>
                <a:latin typeface="Aptos"/>
              </a:rPr>
              <a:t>Participation in activities (Yes/No)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839712" y="3079865"/>
            <a:ext cx="1325880" cy="16209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165592" y="3079865"/>
            <a:ext cx="2011680" cy="16209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76288" y="3089009"/>
            <a:ext cx="1252728" cy="143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>
                <a:solidFill>
                  <a:srgbClr val="232323"/>
                </a:solidFill>
                <a:latin typeface="Aptos"/>
              </a:rPr>
              <a:t>Math Score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02167" y="3089009"/>
            <a:ext cx="1938528" cy="143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>
                <a:solidFill>
                  <a:srgbClr val="232323"/>
                </a:solidFill>
                <a:latin typeface="Aptos"/>
              </a:rPr>
              <a:t>Score in Mathematics (0-100)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39712" y="3241963"/>
            <a:ext cx="1325880" cy="16209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165592" y="3241963"/>
            <a:ext cx="2011680" cy="16209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76288" y="3251107"/>
            <a:ext cx="1252728" cy="143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>
                <a:solidFill>
                  <a:srgbClr val="232323"/>
                </a:solidFill>
                <a:latin typeface="Aptos"/>
              </a:rPr>
              <a:t>Reading Score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02167" y="3251107"/>
            <a:ext cx="1938528" cy="143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>
                <a:solidFill>
                  <a:srgbClr val="232323"/>
                </a:solidFill>
                <a:latin typeface="Aptos"/>
              </a:rPr>
              <a:t>Score in Reading (0-100)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39712" y="3404061"/>
            <a:ext cx="1325880" cy="16209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165592" y="3404061"/>
            <a:ext cx="2011680" cy="16209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76288" y="3413205"/>
            <a:ext cx="1252728" cy="143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>
                <a:solidFill>
                  <a:srgbClr val="232323"/>
                </a:solidFill>
                <a:latin typeface="Aptos"/>
              </a:rPr>
              <a:t>Writing Score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02167" y="3413205"/>
            <a:ext cx="1938528" cy="143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>
                <a:solidFill>
                  <a:srgbClr val="232323"/>
                </a:solidFill>
                <a:latin typeface="Aptos"/>
              </a:rPr>
              <a:t>Score in Writing (0-100)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78440" y="1847088"/>
            <a:ext cx="2880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9">
                <a:solidFill>
                  <a:srgbClr val="232323"/>
                </a:solidFill>
                <a:latin typeface="Aptos"/>
              </a:defRPr>
            </a:pPr>
            <a:r>
              <a:t>• Source: Student Performance Dataset (Kaggle)</a:t>
            </a:r>
          </a:p>
          <a:p>
            <a:pPr>
              <a:spcAft>
                <a:spcPts val="300"/>
              </a:spcAft>
              <a:defRPr sz="869">
                <a:solidFill>
                  <a:srgbClr val="232323"/>
                </a:solidFill>
                <a:latin typeface="Aptos"/>
              </a:defRPr>
            </a:pPr>
            <a:r>
              <a:t>• Records: 1000 Students</a:t>
            </a:r>
          </a:p>
          <a:p>
            <a:pPr>
              <a:spcAft>
                <a:spcPts val="300"/>
              </a:spcAft>
              <a:defRPr sz="869">
                <a:solidFill>
                  <a:srgbClr val="232323"/>
                </a:solidFill>
                <a:latin typeface="Aptos"/>
              </a:defRPr>
            </a:pPr>
            <a:r>
              <a:t>• Target Variables: Math Score, Reading Score, Writing Score</a:t>
            </a:r>
          </a:p>
          <a:p>
            <a:pPr>
              <a:spcAft>
                <a:spcPts val="300"/>
              </a:spcAft>
              <a:defRPr sz="869">
                <a:solidFill>
                  <a:srgbClr val="232323"/>
                </a:solidFill>
                <a:latin typeface="Aptos"/>
              </a:defRPr>
            </a:pPr>
            <a:r>
              <a:t>• Tools: Python (Pandas, NumPy, Matplotlib, Seaborn)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01168" y="3794760"/>
            <a:ext cx="6327648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201168" y="3794760"/>
            <a:ext cx="6327648" cy="292608"/>
          </a:xfrm>
          <a:prstGeom prst="roundRect">
            <a:avLst>
              <a:gd name="adj" fmla="val 8000"/>
            </a:avLst>
          </a:prstGeom>
          <a:solidFill>
            <a:srgbClr val="082B52"/>
          </a:solidFill>
          <a:ln w="1016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92608" y="3803904"/>
            <a:ext cx="6144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Exploratory Data Analysis Pipeline</a:t>
            </a:r>
          </a:p>
        </p:txBody>
      </p:sp>
      <p:sp>
        <p:nvSpPr>
          <p:cNvPr id="84" name="Chevron 83"/>
          <p:cNvSpPr/>
          <p:nvPr/>
        </p:nvSpPr>
        <p:spPr>
          <a:xfrm>
            <a:off x="320040" y="4160520"/>
            <a:ext cx="941832" cy="658368"/>
          </a:xfrm>
          <a:prstGeom prst="chevron">
            <a:avLst/>
          </a:prstGeom>
          <a:solidFill>
            <a:srgbClr val="174A8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93192" y="4206240"/>
            <a:ext cx="777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Data
Loading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8328" y="4864608"/>
            <a:ext cx="90525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80" b="0">
                <a:solidFill>
                  <a:srgbClr val="232323"/>
                </a:solidFill>
                <a:latin typeface="Aptos"/>
              </a:rPr>
              <a:t>Load dataset
using Pandas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8328" y="5212080"/>
            <a:ext cx="90525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" b="1">
                <a:solidFill>
                  <a:srgbClr val="6E6E6E"/>
                </a:solidFill>
                <a:latin typeface="Aptos"/>
              </a:rPr>
              <a:t>df = pd.read_csv()</a:t>
            </a:r>
          </a:p>
        </p:txBody>
      </p:sp>
      <p:sp>
        <p:nvSpPr>
          <p:cNvPr id="88" name="Chevron 87"/>
          <p:cNvSpPr/>
          <p:nvPr/>
        </p:nvSpPr>
        <p:spPr>
          <a:xfrm>
            <a:off x="1325880" y="4160520"/>
            <a:ext cx="941832" cy="658368"/>
          </a:xfrm>
          <a:prstGeom prst="chevron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201168" y="3794760"/>
            <a:ext cx="6327648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201168" y="3794760"/>
            <a:ext cx="6327648" cy="292608"/>
          </a:xfrm>
          <a:prstGeom prst="roundRect">
            <a:avLst>
              <a:gd name="adj" fmla="val 8000"/>
            </a:avLst>
          </a:prstGeom>
          <a:solidFill>
            <a:srgbClr val="082B52"/>
          </a:solidFill>
          <a:ln w="1016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92608" y="3803904"/>
            <a:ext cx="6144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Exploratory Data Analysis Pipeline</a:t>
            </a:r>
          </a:p>
        </p:txBody>
      </p:sp>
      <p:sp>
        <p:nvSpPr>
          <p:cNvPr id="92" name="Chevron 91"/>
          <p:cNvSpPr/>
          <p:nvPr/>
        </p:nvSpPr>
        <p:spPr>
          <a:xfrm>
            <a:off x="320040" y="4160520"/>
            <a:ext cx="941832" cy="658368"/>
          </a:xfrm>
          <a:prstGeom prst="chevron">
            <a:avLst/>
          </a:prstGeom>
          <a:solidFill>
            <a:srgbClr val="174A8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93192" y="4206240"/>
            <a:ext cx="777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Data
Loading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8328" y="4864608"/>
            <a:ext cx="90525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80" b="0">
                <a:solidFill>
                  <a:srgbClr val="232323"/>
                </a:solidFill>
                <a:latin typeface="Aptos"/>
              </a:rPr>
              <a:t>Load dataset
using Pandas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8328" y="5212080"/>
            <a:ext cx="90525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" b="1">
                <a:solidFill>
                  <a:srgbClr val="6E6E6E"/>
                </a:solidFill>
                <a:latin typeface="Aptos"/>
              </a:rPr>
              <a:t>df = pd.read_csv()</a:t>
            </a:r>
          </a:p>
        </p:txBody>
      </p:sp>
      <p:sp>
        <p:nvSpPr>
          <p:cNvPr id="96" name="Chevron 95"/>
          <p:cNvSpPr/>
          <p:nvPr/>
        </p:nvSpPr>
        <p:spPr>
          <a:xfrm>
            <a:off x="1325880" y="4160520"/>
            <a:ext cx="941832" cy="658368"/>
          </a:xfrm>
          <a:prstGeom prst="chevron">
            <a:avLst/>
          </a:prstGeom>
          <a:solidFill>
            <a:srgbClr val="4996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399032" y="4206240"/>
            <a:ext cx="777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Data
Overview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44168" y="4864608"/>
            <a:ext cx="90525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80" b="0">
                <a:solidFill>
                  <a:srgbClr val="232323"/>
                </a:solidFill>
                <a:latin typeface="Aptos"/>
              </a:rPr>
              <a:t>Check shape,
info, missing values,
duplicates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44168" y="5212080"/>
            <a:ext cx="90525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" b="1">
                <a:solidFill>
                  <a:srgbClr val="6E6E6E"/>
                </a:solidFill>
                <a:latin typeface="Aptos"/>
              </a:rPr>
              <a:t>df.info()</a:t>
            </a:r>
          </a:p>
        </p:txBody>
      </p:sp>
      <p:sp>
        <p:nvSpPr>
          <p:cNvPr id="100" name="Chevron 99"/>
          <p:cNvSpPr/>
          <p:nvPr/>
        </p:nvSpPr>
        <p:spPr>
          <a:xfrm>
            <a:off x="2331720" y="4160520"/>
            <a:ext cx="941832" cy="658368"/>
          </a:xfrm>
          <a:prstGeom prst="chevron">
            <a:avLst/>
          </a:prstGeom>
          <a:solidFill>
            <a:srgbClr val="F0651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404872" y="4206240"/>
            <a:ext cx="777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Univariate
Analysis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350008" y="4864608"/>
            <a:ext cx="90525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80" b="0">
                <a:solidFill>
                  <a:srgbClr val="232323"/>
                </a:solidFill>
                <a:latin typeface="Aptos"/>
              </a:rPr>
              <a:t>Distributions of
numerical &amp;
categorical variables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350008" y="5212080"/>
            <a:ext cx="90525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" b="1">
                <a:solidFill>
                  <a:srgbClr val="6E6E6E"/>
                </a:solidFill>
                <a:latin typeface="Aptos"/>
              </a:rPr>
              <a:t>df.describe()</a:t>
            </a:r>
          </a:p>
        </p:txBody>
      </p:sp>
      <p:sp>
        <p:nvSpPr>
          <p:cNvPr id="104" name="Chevron 103"/>
          <p:cNvSpPr/>
          <p:nvPr/>
        </p:nvSpPr>
        <p:spPr>
          <a:xfrm>
            <a:off x="3337560" y="4160520"/>
            <a:ext cx="941832" cy="658368"/>
          </a:xfrm>
          <a:prstGeom prst="chevron">
            <a:avLst/>
          </a:prstGeom>
          <a:solidFill>
            <a:srgbClr val="683D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410712" y="4206240"/>
            <a:ext cx="777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Bivariate
Analysis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55848" y="4864608"/>
            <a:ext cx="90525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80" b="0">
                <a:solidFill>
                  <a:srgbClr val="232323"/>
                </a:solidFill>
                <a:latin typeface="Aptos"/>
              </a:rPr>
              <a:t>Relationships
between features
and target scores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55848" y="5212080"/>
            <a:ext cx="90525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" b="1">
                <a:solidFill>
                  <a:srgbClr val="6E6E6E"/>
                </a:solidFill>
                <a:latin typeface="Aptos"/>
              </a:rPr>
              <a:t>corr(), groupby()</a:t>
            </a:r>
          </a:p>
        </p:txBody>
      </p:sp>
      <p:sp>
        <p:nvSpPr>
          <p:cNvPr id="108" name="Chevron 107"/>
          <p:cNvSpPr/>
          <p:nvPr/>
        </p:nvSpPr>
        <p:spPr>
          <a:xfrm>
            <a:off x="4343400" y="4160520"/>
            <a:ext cx="941832" cy="658368"/>
          </a:xfrm>
          <a:prstGeom prst="chevron">
            <a:avLst/>
          </a:prstGeom>
          <a:solidFill>
            <a:srgbClr val="1385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416552" y="4206240"/>
            <a:ext cx="777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Multivariate
Analysis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361688" y="4864608"/>
            <a:ext cx="90525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80" b="0">
                <a:solidFill>
                  <a:srgbClr val="232323"/>
                </a:solidFill>
                <a:latin typeface="Aptos"/>
              </a:rPr>
              <a:t>Correlation matrix,
pair plots,
segmented analysis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61688" y="5212080"/>
            <a:ext cx="90525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" b="1">
                <a:solidFill>
                  <a:srgbClr val="6E6E6E"/>
                </a:solidFill>
                <a:latin typeface="Aptos"/>
              </a:rPr>
              <a:t>sns.heatmap()</a:t>
            </a:r>
          </a:p>
        </p:txBody>
      </p:sp>
      <p:sp>
        <p:nvSpPr>
          <p:cNvPr id="112" name="Chevron 111"/>
          <p:cNvSpPr/>
          <p:nvPr/>
        </p:nvSpPr>
        <p:spPr>
          <a:xfrm>
            <a:off x="5349240" y="4160520"/>
            <a:ext cx="941832" cy="658368"/>
          </a:xfrm>
          <a:prstGeom prst="chevron">
            <a:avLst/>
          </a:prstGeom>
          <a:solidFill>
            <a:srgbClr val="DC484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422392" y="4206240"/>
            <a:ext cx="777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Insights &amp;
Conclusion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367527" y="4864608"/>
            <a:ext cx="90525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80" b="0">
                <a:solidFill>
                  <a:srgbClr val="232323"/>
                </a:solidFill>
                <a:latin typeface="Aptos"/>
              </a:rPr>
              <a:t>Key findings &amp;
observations
from EDA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367527" y="5212080"/>
            <a:ext cx="90525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" b="1">
                <a:solidFill>
                  <a:srgbClr val="6E6E6E"/>
                </a:solidFill>
                <a:latin typeface="Aptos"/>
              </a:rPr>
              <a:t>Visual + Stats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01168" y="5806440"/>
            <a:ext cx="340156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201168" y="5806440"/>
            <a:ext cx="3401568" cy="292608"/>
          </a:xfrm>
          <a:prstGeom prst="roundRect">
            <a:avLst>
              <a:gd name="adj" fmla="val 8000"/>
            </a:avLst>
          </a:prstGeom>
          <a:solidFill>
            <a:srgbClr val="082B52"/>
          </a:solidFill>
          <a:ln w="1016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92608" y="5815583"/>
            <a:ext cx="3218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Key Findings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47472" y="6144768"/>
            <a:ext cx="2560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0651E"/>
                </a:solidFill>
                <a:latin typeface="Aptos"/>
              </a:rPr>
              <a:t>◎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40080" y="6126480"/>
            <a:ext cx="27614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32323"/>
                </a:solidFill>
                <a:latin typeface="Aptos"/>
              </a:rPr>
              <a:t>Study time has a strong positive correlation with performance.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47472" y="6428231"/>
            <a:ext cx="2560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0651E"/>
                </a:solidFill>
                <a:latin typeface="Aptos"/>
              </a:rPr>
              <a:t>◆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40080" y="6409944"/>
            <a:ext cx="27614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32323"/>
                </a:solidFill>
                <a:latin typeface="Aptos"/>
              </a:rPr>
              <a:t>Students with higher parental education tend to score better.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47472" y="6711695"/>
            <a:ext cx="2560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0651E"/>
                </a:solidFill>
                <a:latin typeface="Aptos"/>
              </a:rPr>
              <a:t>●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40080" y="6693407"/>
            <a:ext cx="27614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32323"/>
                </a:solidFill>
                <a:latin typeface="Aptos"/>
              </a:rPr>
              <a:t>Absences negatively impact academic performance.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47472" y="6995159"/>
            <a:ext cx="2560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0651E"/>
                </a:solidFill>
                <a:latin typeface="Aptos"/>
              </a:rPr>
              <a:t>★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40080" y="6976871"/>
            <a:ext cx="27614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32323"/>
                </a:solidFill>
                <a:latin typeface="Aptos"/>
              </a:rPr>
              <a:t>Math score shows high correlation with reading and writing scores.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703320" y="5806440"/>
            <a:ext cx="28346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3703320" y="5806440"/>
            <a:ext cx="2834640" cy="292608"/>
          </a:xfrm>
          <a:prstGeom prst="roundRect">
            <a:avLst>
              <a:gd name="adj" fmla="val 8000"/>
            </a:avLst>
          </a:prstGeom>
          <a:solidFill>
            <a:srgbClr val="082B52"/>
          </a:solidFill>
          <a:ln w="1016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794759" y="5815583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Summary Statistics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749039" y="6144768"/>
            <a:ext cx="1188720" cy="246888"/>
          </a:xfrm>
          <a:prstGeom prst="rect">
            <a:avLst/>
          </a:prstGeom>
          <a:solidFill>
            <a:srgbClr val="EBF3FA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767327" y="6144768"/>
            <a:ext cx="1152144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20" b="1">
                <a:solidFill>
                  <a:srgbClr val="232323"/>
                </a:solidFill>
                <a:latin typeface="Aptos"/>
              </a:rPr>
              <a:t>Feature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937759" y="6144768"/>
            <a:ext cx="393192" cy="246888"/>
          </a:xfrm>
          <a:prstGeom prst="rect">
            <a:avLst/>
          </a:prstGeom>
          <a:solidFill>
            <a:srgbClr val="EBF3FA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956047" y="6144768"/>
            <a:ext cx="356616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20" b="1">
                <a:solidFill>
                  <a:srgbClr val="232323"/>
                </a:solidFill>
                <a:latin typeface="Aptos"/>
              </a:rPr>
              <a:t>Mean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330952" y="6144768"/>
            <a:ext cx="512064" cy="246888"/>
          </a:xfrm>
          <a:prstGeom prst="rect">
            <a:avLst/>
          </a:prstGeom>
          <a:solidFill>
            <a:srgbClr val="EBF3FA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349240" y="6144768"/>
            <a:ext cx="475488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20" b="1">
                <a:solidFill>
                  <a:srgbClr val="232323"/>
                </a:solidFill>
                <a:latin typeface="Aptos"/>
              </a:rPr>
              <a:t>Std Dev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843016" y="6144768"/>
            <a:ext cx="384048" cy="246888"/>
          </a:xfrm>
          <a:prstGeom prst="rect">
            <a:avLst/>
          </a:prstGeom>
          <a:solidFill>
            <a:srgbClr val="EBF3FA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861303" y="6144768"/>
            <a:ext cx="34747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20" b="1">
                <a:solidFill>
                  <a:srgbClr val="232323"/>
                </a:solidFill>
                <a:latin typeface="Aptos"/>
              </a:rPr>
              <a:t>Min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227064" y="6144768"/>
            <a:ext cx="393192" cy="246888"/>
          </a:xfrm>
          <a:prstGeom prst="rect">
            <a:avLst/>
          </a:prstGeom>
          <a:solidFill>
            <a:srgbClr val="EBF3FA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245351" y="6144768"/>
            <a:ext cx="356616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20" b="1">
                <a:solidFill>
                  <a:srgbClr val="232323"/>
                </a:solidFill>
                <a:latin typeface="Aptos"/>
              </a:rPr>
              <a:t>Max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749039" y="6391656"/>
            <a:ext cx="118872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758183" y="6391656"/>
            <a:ext cx="11704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90" b="0">
                <a:solidFill>
                  <a:srgbClr val="232323"/>
                </a:solidFill>
                <a:latin typeface="Aptos"/>
              </a:rPr>
              <a:t>Age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937759" y="6391656"/>
            <a:ext cx="393192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946903" y="6391656"/>
            <a:ext cx="37490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16.70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330952" y="6391656"/>
            <a:ext cx="512064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340096" y="6391656"/>
            <a:ext cx="49377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2.50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843016" y="6391656"/>
            <a:ext cx="384048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852159" y="6391656"/>
            <a:ext cx="365759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12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227064" y="6391656"/>
            <a:ext cx="393192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236207" y="6391656"/>
            <a:ext cx="37490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19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749039" y="6592824"/>
            <a:ext cx="118872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758183" y="6592824"/>
            <a:ext cx="11704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90" b="0">
                <a:solidFill>
                  <a:srgbClr val="232323"/>
                </a:solidFill>
                <a:latin typeface="Aptos"/>
              </a:rPr>
              <a:t>Study Time (hrs/day)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937759" y="6592824"/>
            <a:ext cx="393192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946903" y="6592824"/>
            <a:ext cx="37490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4.87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330952" y="6592824"/>
            <a:ext cx="512064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340096" y="6592824"/>
            <a:ext cx="49377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2.50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843016" y="6592824"/>
            <a:ext cx="384048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852159" y="6592824"/>
            <a:ext cx="365759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0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227064" y="6592824"/>
            <a:ext cx="393192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236207" y="6592824"/>
            <a:ext cx="37490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10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749039" y="6793992"/>
            <a:ext cx="118872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758183" y="6793992"/>
            <a:ext cx="11704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90" b="0">
                <a:solidFill>
                  <a:srgbClr val="232323"/>
                </a:solidFill>
                <a:latin typeface="Aptos"/>
              </a:rPr>
              <a:t>Absences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937759" y="6793992"/>
            <a:ext cx="393192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946903" y="6793992"/>
            <a:ext cx="37490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7.14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330952" y="6793992"/>
            <a:ext cx="512064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340096" y="6793992"/>
            <a:ext cx="49377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5.15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843016" y="6793992"/>
            <a:ext cx="384048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852159" y="6793992"/>
            <a:ext cx="365759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0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227064" y="6793992"/>
            <a:ext cx="393192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236207" y="6793992"/>
            <a:ext cx="37490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37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3749039" y="6995160"/>
            <a:ext cx="118872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758183" y="6995160"/>
            <a:ext cx="11704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90" b="0">
                <a:solidFill>
                  <a:srgbClr val="232323"/>
                </a:solidFill>
                <a:latin typeface="Aptos"/>
              </a:rPr>
              <a:t>Math Score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937759" y="6995160"/>
            <a:ext cx="393192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946903" y="6995160"/>
            <a:ext cx="37490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66.09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5330952" y="6995160"/>
            <a:ext cx="512064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340096" y="6995160"/>
            <a:ext cx="49377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15.16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843016" y="6995160"/>
            <a:ext cx="384048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5852159" y="6995160"/>
            <a:ext cx="365759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0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6227064" y="6995160"/>
            <a:ext cx="393192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6236207" y="6995160"/>
            <a:ext cx="37490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100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3749039" y="7196328"/>
            <a:ext cx="118872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3758183" y="7196328"/>
            <a:ext cx="11704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90" b="0">
                <a:solidFill>
                  <a:srgbClr val="232323"/>
                </a:solidFill>
                <a:latin typeface="Aptos"/>
              </a:rPr>
              <a:t>Reading Score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4937759" y="7196328"/>
            <a:ext cx="393192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946903" y="7196328"/>
            <a:ext cx="37490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69.17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5330952" y="7196328"/>
            <a:ext cx="512064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340096" y="7196328"/>
            <a:ext cx="49377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14.60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5843016" y="7196328"/>
            <a:ext cx="384048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5852159" y="7196328"/>
            <a:ext cx="365759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17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227064" y="7196328"/>
            <a:ext cx="393192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236207" y="7196328"/>
            <a:ext cx="37490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100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749039" y="7397496"/>
            <a:ext cx="118872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3758183" y="7397496"/>
            <a:ext cx="11704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90" b="0">
                <a:solidFill>
                  <a:srgbClr val="232323"/>
                </a:solidFill>
                <a:latin typeface="Aptos"/>
              </a:rPr>
              <a:t>Writing Score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4937759" y="7397496"/>
            <a:ext cx="393192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4946903" y="7397496"/>
            <a:ext cx="37490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68.05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5330952" y="7397496"/>
            <a:ext cx="512064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5340096" y="7397496"/>
            <a:ext cx="49377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15.20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5843016" y="7397496"/>
            <a:ext cx="384048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5852159" y="7397496"/>
            <a:ext cx="365759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10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227064" y="7397496"/>
            <a:ext cx="393192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236207" y="7397496"/>
            <a:ext cx="37490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90" b="0">
                <a:solidFill>
                  <a:srgbClr val="232323"/>
                </a:solidFill>
                <a:latin typeface="Aptos"/>
              </a:rPr>
              <a:t>100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6720840" y="3794760"/>
            <a:ext cx="6793992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6720840" y="3794760"/>
            <a:ext cx="6793992" cy="292608"/>
          </a:xfrm>
          <a:prstGeom prst="roundRect">
            <a:avLst>
              <a:gd name="adj" fmla="val 8000"/>
            </a:avLst>
          </a:prstGeom>
          <a:solidFill>
            <a:srgbClr val="082B52"/>
          </a:solidFill>
          <a:ln w="1016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812279" y="3803904"/>
            <a:ext cx="66111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Key Visualizations &amp; Insights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858000" y="4114800"/>
            <a:ext cx="2148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1">
                <a:solidFill>
                  <a:srgbClr val="232323"/>
                </a:solidFill>
                <a:latin typeface="Aptos"/>
              </a:rPr>
              <a:t>Distribution of Scores</a:t>
            </a:r>
          </a:p>
        </p:txBody>
      </p:sp>
      <p:graphicFrame>
        <p:nvGraphicFramePr>
          <p:cNvPr id="204" name="Chart 203"/>
          <p:cNvGraphicFramePr>
            <a:graphicFrameLocks noGrp="1"/>
          </p:cNvGraphicFramePr>
          <p:nvPr/>
        </p:nvGraphicFramePr>
        <p:xfrm>
          <a:off x="6903720" y="4325112"/>
          <a:ext cx="2057400" cy="1234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5" name="TextBox 204"/>
          <p:cNvSpPr txBox="1"/>
          <p:nvPr/>
        </p:nvSpPr>
        <p:spPr>
          <a:xfrm>
            <a:off x="9034272" y="4114800"/>
            <a:ext cx="2011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1">
                <a:solidFill>
                  <a:srgbClr val="232323"/>
                </a:solidFill>
                <a:latin typeface="Aptos"/>
              </a:rPr>
              <a:t>Gender vs Average Scores</a:t>
            </a:r>
          </a:p>
        </p:txBody>
      </p:sp>
      <p:graphicFrame>
        <p:nvGraphicFramePr>
          <p:cNvPr id="206" name="Chart 205"/>
          <p:cNvGraphicFramePr>
            <a:graphicFrameLocks noGrp="1"/>
          </p:cNvGraphicFramePr>
          <p:nvPr/>
        </p:nvGraphicFramePr>
        <p:xfrm>
          <a:off x="9070848" y="4325112"/>
          <a:ext cx="1965960" cy="1234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7" name="TextBox 206"/>
          <p:cNvSpPr txBox="1"/>
          <p:nvPr/>
        </p:nvSpPr>
        <p:spPr>
          <a:xfrm>
            <a:off x="11155680" y="4114800"/>
            <a:ext cx="2148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1">
                <a:solidFill>
                  <a:srgbClr val="232323"/>
                </a:solidFill>
                <a:latin typeface="Aptos"/>
              </a:rPr>
              <a:t>Study Time vs Scores (Math)</a:t>
            </a:r>
          </a:p>
        </p:txBody>
      </p:sp>
      <p:graphicFrame>
        <p:nvGraphicFramePr>
          <p:cNvPr id="208" name="Chart 207"/>
          <p:cNvGraphicFramePr>
            <a:graphicFrameLocks noGrp="1"/>
          </p:cNvGraphicFramePr>
          <p:nvPr/>
        </p:nvGraphicFramePr>
        <p:xfrm>
          <a:off x="11173968" y="4325112"/>
          <a:ext cx="2103120" cy="12344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9" name="TextBox 208"/>
          <p:cNvSpPr txBox="1"/>
          <p:nvPr/>
        </p:nvSpPr>
        <p:spPr>
          <a:xfrm>
            <a:off x="6903720" y="5669280"/>
            <a:ext cx="2148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1">
                <a:solidFill>
                  <a:srgbClr val="232323"/>
                </a:solidFill>
                <a:latin typeface="Aptos"/>
              </a:rPr>
              <a:t>Correlation Heatmap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949440" y="5760720"/>
            <a:ext cx="35661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" b="1">
                <a:solidFill>
                  <a:srgbClr val="232323"/>
                </a:solidFill>
                <a:latin typeface="Aptos"/>
              </a:rPr>
              <a:t>Math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7306055" y="5760720"/>
            <a:ext cx="35661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" b="1">
                <a:solidFill>
                  <a:srgbClr val="232323"/>
                </a:solidFill>
                <a:latin typeface="Aptos"/>
              </a:rPr>
              <a:t>Reading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662671" y="5760720"/>
            <a:ext cx="35661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" b="1">
                <a:solidFill>
                  <a:srgbClr val="232323"/>
                </a:solidFill>
                <a:latin typeface="Aptos"/>
              </a:rPr>
              <a:t>Writing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019288" y="5760720"/>
            <a:ext cx="35661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" b="1">
                <a:solidFill>
                  <a:srgbClr val="232323"/>
                </a:solidFill>
                <a:latin typeface="Aptos"/>
              </a:rPr>
              <a:t>Study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8375904" y="5760720"/>
            <a:ext cx="35661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" b="1">
                <a:solidFill>
                  <a:srgbClr val="232323"/>
                </a:solidFill>
                <a:latin typeface="Aptos"/>
              </a:rPr>
              <a:t>Absences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6739128" y="5961888"/>
            <a:ext cx="2011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520" b="1">
                <a:solidFill>
                  <a:srgbClr val="232323"/>
                </a:solidFill>
                <a:latin typeface="Aptos"/>
              </a:rPr>
              <a:t>Math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6949440" y="5961888"/>
            <a:ext cx="356616" cy="274320"/>
          </a:xfrm>
          <a:prstGeom prst="rect">
            <a:avLst/>
          </a:prstGeom>
          <a:solidFill>
            <a:srgbClr val="6973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6949440" y="5961888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1.00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7306055" y="5961888"/>
            <a:ext cx="356616" cy="274320"/>
          </a:xfrm>
          <a:prstGeom prst="rect">
            <a:avLst/>
          </a:prstGeom>
          <a:solidFill>
            <a:srgbClr val="808A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7306055" y="5961888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0.82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7662671" y="5961888"/>
            <a:ext cx="356616" cy="274320"/>
          </a:xfrm>
          <a:prstGeom prst="rect">
            <a:avLst/>
          </a:prstGeom>
          <a:solidFill>
            <a:srgbClr val="838D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7662671" y="5961888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0.80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8019288" y="5961888"/>
            <a:ext cx="356616" cy="274320"/>
          </a:xfrm>
          <a:prstGeom prst="rect">
            <a:avLst/>
          </a:prstGeom>
          <a:solidFill>
            <a:srgbClr val="C1CB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8019288" y="5961888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0.32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8375904" y="5961888"/>
            <a:ext cx="356616" cy="274320"/>
          </a:xfrm>
          <a:prstGeom prst="rect">
            <a:avLst/>
          </a:prstGeom>
          <a:solidFill>
            <a:srgbClr val="F5C6C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8375904" y="5961888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-0.28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6739128" y="6236207"/>
            <a:ext cx="2011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520" b="1">
                <a:solidFill>
                  <a:srgbClr val="232323"/>
                </a:solidFill>
                <a:latin typeface="Aptos"/>
              </a:rPr>
              <a:t>Reading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6949440" y="6236207"/>
            <a:ext cx="356616" cy="274320"/>
          </a:xfrm>
          <a:prstGeom prst="rect">
            <a:avLst/>
          </a:prstGeom>
          <a:solidFill>
            <a:srgbClr val="808A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949440" y="6236207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0.82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7306055" y="6236207"/>
            <a:ext cx="356616" cy="274320"/>
          </a:xfrm>
          <a:prstGeom prst="rect">
            <a:avLst/>
          </a:prstGeom>
          <a:solidFill>
            <a:srgbClr val="6973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7306055" y="6236207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1.00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7662671" y="6236207"/>
            <a:ext cx="356616" cy="274320"/>
          </a:xfrm>
          <a:prstGeom prst="rect">
            <a:avLst/>
          </a:prstGeom>
          <a:solidFill>
            <a:srgbClr val="7B85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7662671" y="6236207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0.86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8019288" y="6236207"/>
            <a:ext cx="356616" cy="274320"/>
          </a:xfrm>
          <a:prstGeom prst="rect">
            <a:avLst/>
          </a:prstGeom>
          <a:solidFill>
            <a:srgbClr val="C7D1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8019288" y="6236207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0.27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8375904" y="6236207"/>
            <a:ext cx="356616" cy="274320"/>
          </a:xfrm>
          <a:prstGeom prst="rect">
            <a:avLst/>
          </a:prstGeom>
          <a:solidFill>
            <a:srgbClr val="F5CACA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8375904" y="6236207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-0.25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739128" y="6510527"/>
            <a:ext cx="2011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520" b="1">
                <a:solidFill>
                  <a:srgbClr val="232323"/>
                </a:solidFill>
                <a:latin typeface="Aptos"/>
              </a:rPr>
              <a:t>Writing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6949440" y="6510527"/>
            <a:ext cx="356616" cy="274320"/>
          </a:xfrm>
          <a:prstGeom prst="rect">
            <a:avLst/>
          </a:prstGeom>
          <a:solidFill>
            <a:srgbClr val="838D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6949440" y="6510527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0.80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7306055" y="6510527"/>
            <a:ext cx="356616" cy="274320"/>
          </a:xfrm>
          <a:prstGeom prst="rect">
            <a:avLst/>
          </a:prstGeom>
          <a:solidFill>
            <a:srgbClr val="7B85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7306055" y="6510527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0.86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7662671" y="6510527"/>
            <a:ext cx="356616" cy="274320"/>
          </a:xfrm>
          <a:prstGeom prst="rect">
            <a:avLst/>
          </a:prstGeom>
          <a:solidFill>
            <a:srgbClr val="6973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662671" y="6510527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1.00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8019288" y="6510527"/>
            <a:ext cx="356616" cy="274320"/>
          </a:xfrm>
          <a:prstGeom prst="rect">
            <a:avLst/>
          </a:prstGeom>
          <a:solidFill>
            <a:srgbClr val="C5CF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8019288" y="6510527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0.29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8375904" y="6510527"/>
            <a:ext cx="356616" cy="274320"/>
          </a:xfrm>
          <a:prstGeom prst="rect">
            <a:avLst/>
          </a:prstGeom>
          <a:solidFill>
            <a:srgbClr val="F5CBC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8375904" y="6510527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-0.24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6739128" y="6784848"/>
            <a:ext cx="2011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520" b="1">
                <a:solidFill>
                  <a:srgbClr val="232323"/>
                </a:solidFill>
                <a:latin typeface="Aptos"/>
              </a:rPr>
              <a:t>Study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949440" y="6784848"/>
            <a:ext cx="356616" cy="274320"/>
          </a:xfrm>
          <a:prstGeom prst="rect">
            <a:avLst/>
          </a:prstGeom>
          <a:solidFill>
            <a:srgbClr val="C1CB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949440" y="6784848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0.32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7306055" y="6784848"/>
            <a:ext cx="356616" cy="274320"/>
          </a:xfrm>
          <a:prstGeom prst="rect">
            <a:avLst/>
          </a:prstGeom>
          <a:solidFill>
            <a:srgbClr val="C7D1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7306055" y="6784848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0.27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7662671" y="6784848"/>
            <a:ext cx="356616" cy="274320"/>
          </a:xfrm>
          <a:prstGeom prst="rect">
            <a:avLst/>
          </a:prstGeom>
          <a:solidFill>
            <a:srgbClr val="C5CF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7662671" y="6784848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0.29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8019288" y="6784848"/>
            <a:ext cx="356616" cy="274320"/>
          </a:xfrm>
          <a:prstGeom prst="rect">
            <a:avLst/>
          </a:prstGeom>
          <a:solidFill>
            <a:srgbClr val="6973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8019288" y="6784848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1.00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8375904" y="6784848"/>
            <a:ext cx="356616" cy="274320"/>
          </a:xfrm>
          <a:prstGeom prst="rect">
            <a:avLst/>
          </a:prstGeom>
          <a:solidFill>
            <a:srgbClr val="F5D3D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8375904" y="6784848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-0.18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6739128" y="7059168"/>
            <a:ext cx="2011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520" b="1">
                <a:solidFill>
                  <a:srgbClr val="232323"/>
                </a:solidFill>
                <a:latin typeface="Aptos"/>
              </a:rPr>
              <a:t>Absences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6949440" y="7059168"/>
            <a:ext cx="356616" cy="274320"/>
          </a:xfrm>
          <a:prstGeom prst="rect">
            <a:avLst/>
          </a:prstGeom>
          <a:solidFill>
            <a:srgbClr val="F5C6C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6949440" y="7059168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-0.28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7306055" y="7059168"/>
            <a:ext cx="356616" cy="274320"/>
          </a:xfrm>
          <a:prstGeom prst="rect">
            <a:avLst/>
          </a:prstGeom>
          <a:solidFill>
            <a:srgbClr val="F5CACA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7306055" y="7059168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-0.25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7662671" y="7059168"/>
            <a:ext cx="356616" cy="274320"/>
          </a:xfrm>
          <a:prstGeom prst="rect">
            <a:avLst/>
          </a:prstGeom>
          <a:solidFill>
            <a:srgbClr val="F5CBC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7662671" y="7059168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-0.24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8019288" y="7059168"/>
            <a:ext cx="356616" cy="274320"/>
          </a:xfrm>
          <a:prstGeom prst="rect">
            <a:avLst/>
          </a:prstGeom>
          <a:solidFill>
            <a:srgbClr val="F5D3D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8019288" y="7059168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-0.18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8375904" y="7059168"/>
            <a:ext cx="356616" cy="274320"/>
          </a:xfrm>
          <a:prstGeom prst="rect">
            <a:avLst/>
          </a:prstGeom>
          <a:solidFill>
            <a:srgbClr val="6973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8375904" y="7059168"/>
            <a:ext cx="356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" b="0">
                <a:solidFill>
                  <a:srgbClr val="232323"/>
                </a:solidFill>
                <a:latin typeface="Aptos"/>
              </a:rPr>
              <a:t>1.00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9144000" y="5669280"/>
            <a:ext cx="2011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1">
                <a:solidFill>
                  <a:srgbClr val="232323"/>
                </a:solidFill>
                <a:latin typeface="Aptos"/>
              </a:rPr>
              <a:t>Parental Education vs Avg Score</a:t>
            </a:r>
          </a:p>
        </p:txBody>
      </p:sp>
      <p:graphicFrame>
        <p:nvGraphicFramePr>
          <p:cNvPr id="271" name="Chart 270"/>
          <p:cNvGraphicFramePr>
            <a:graphicFrameLocks noGrp="1"/>
          </p:cNvGraphicFramePr>
          <p:nvPr/>
        </p:nvGraphicFramePr>
        <p:xfrm>
          <a:off x="9144000" y="5925312"/>
          <a:ext cx="2011680" cy="1234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72" name="TextBox 271"/>
          <p:cNvSpPr txBox="1"/>
          <p:nvPr/>
        </p:nvSpPr>
        <p:spPr>
          <a:xfrm>
            <a:off x="11201400" y="5669280"/>
            <a:ext cx="2057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1">
                <a:solidFill>
                  <a:srgbClr val="232323"/>
                </a:solidFill>
                <a:latin typeface="Aptos"/>
              </a:rPr>
              <a:t>Absences vs Avg Score</a:t>
            </a:r>
          </a:p>
        </p:txBody>
      </p:sp>
      <p:graphicFrame>
        <p:nvGraphicFramePr>
          <p:cNvPr id="273" name="Chart 272"/>
          <p:cNvGraphicFramePr>
            <a:graphicFrameLocks noGrp="1"/>
          </p:cNvGraphicFramePr>
          <p:nvPr/>
        </p:nvGraphicFramePr>
        <p:xfrm>
          <a:off x="11201400" y="5925312"/>
          <a:ext cx="2057400" cy="123444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4" name="Rounded Rectangle 273"/>
          <p:cNvSpPr/>
          <p:nvPr/>
        </p:nvSpPr>
        <p:spPr>
          <a:xfrm>
            <a:off x="201168" y="7516368"/>
            <a:ext cx="6327648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ounded Rectangle 274"/>
          <p:cNvSpPr/>
          <p:nvPr/>
        </p:nvSpPr>
        <p:spPr>
          <a:xfrm>
            <a:off x="201168" y="7516368"/>
            <a:ext cx="6327648" cy="292608"/>
          </a:xfrm>
          <a:prstGeom prst="roundRect">
            <a:avLst>
              <a:gd name="adj" fmla="val 8000"/>
            </a:avLst>
          </a:prstGeom>
          <a:solidFill>
            <a:srgbClr val="082B52"/>
          </a:solidFill>
          <a:ln w="1016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292608" y="7525512"/>
            <a:ext cx="6144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347472" y="7799831"/>
            <a:ext cx="60167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232323"/>
                </a:solidFill>
                <a:latin typeface="Aptos"/>
              </a:rPr>
              <a:t>✓ EDA reveals important relationships between academic performance and various factors.
✓ Study habits, parental education and attendance are key influencers.
✓ These insights can help educators and institutions to support student success.</a:t>
            </a:r>
          </a:p>
        </p:txBody>
      </p:sp>
      <p:sp>
        <p:nvSpPr>
          <p:cNvPr id="278" name="Rounded Rectangle 277"/>
          <p:cNvSpPr/>
          <p:nvPr/>
        </p:nvSpPr>
        <p:spPr>
          <a:xfrm>
            <a:off x="201168" y="8247888"/>
            <a:ext cx="632764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ounded Rectangle 278"/>
          <p:cNvSpPr/>
          <p:nvPr/>
        </p:nvSpPr>
        <p:spPr>
          <a:xfrm>
            <a:off x="201168" y="8247888"/>
            <a:ext cx="6327648" cy="292608"/>
          </a:xfrm>
          <a:prstGeom prst="roundRect">
            <a:avLst>
              <a:gd name="adj" fmla="val 8000"/>
            </a:avLst>
          </a:prstGeom>
          <a:solidFill>
            <a:srgbClr val="082B52"/>
          </a:solidFill>
          <a:ln w="1016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292608" y="8257031"/>
            <a:ext cx="6144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Future Work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347472" y="8513064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670">
                <a:solidFill>
                  <a:srgbClr val="232323"/>
                </a:solidFill>
                <a:latin typeface="Aptos"/>
              </a:defRPr>
            </a:pPr>
            <a:r>
              <a:t>• Build predictive models to forecast student performance.</a:t>
            </a:r>
          </a:p>
          <a:p>
            <a:pPr>
              <a:spcAft>
                <a:spcPts val="300"/>
              </a:spcAft>
              <a:defRPr sz="670">
                <a:solidFill>
                  <a:srgbClr val="232323"/>
                </a:solidFill>
                <a:latin typeface="Aptos"/>
              </a:defRPr>
            </a:pPr>
            <a:r>
              <a:t>• Perform feature engineering for deeper insights.</a:t>
            </a:r>
          </a:p>
          <a:p>
            <a:pPr>
              <a:spcAft>
                <a:spcPts val="300"/>
              </a:spcAft>
              <a:defRPr sz="670">
                <a:solidFill>
                  <a:srgbClr val="232323"/>
                </a:solidFill>
                <a:latin typeface="Aptos"/>
              </a:defRPr>
            </a:pPr>
            <a:r>
              <a:t>• Deploy an interactive dashboard using Streamlit / Power BI.</a:t>
            </a:r>
          </a:p>
        </p:txBody>
      </p:sp>
      <p:sp>
        <p:nvSpPr>
          <p:cNvPr id="282" name="Oval 281"/>
          <p:cNvSpPr/>
          <p:nvPr/>
        </p:nvSpPr>
        <p:spPr>
          <a:xfrm>
            <a:off x="5596128" y="8439912"/>
            <a:ext cx="502920" cy="502920"/>
          </a:xfrm>
          <a:prstGeom prst="ellipse">
            <a:avLst/>
          </a:prstGeom>
          <a:solidFill>
            <a:srgbClr val="F0651E"/>
          </a:solidFill>
          <a:ln>
            <a:solidFill>
              <a:srgbClr val="F06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5650992" y="8476488"/>
            <a:ext cx="39319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◎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6720840" y="8092440"/>
            <a:ext cx="679399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AA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ounded Rectangle 284"/>
          <p:cNvSpPr/>
          <p:nvPr/>
        </p:nvSpPr>
        <p:spPr>
          <a:xfrm>
            <a:off x="6720840" y="8092440"/>
            <a:ext cx="6793992" cy="292608"/>
          </a:xfrm>
          <a:prstGeom prst="roundRect">
            <a:avLst>
              <a:gd name="adj" fmla="val 8000"/>
            </a:avLst>
          </a:prstGeom>
          <a:solidFill>
            <a:srgbClr val="082B52"/>
          </a:solidFill>
          <a:ln w="1016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6812279" y="8101583"/>
            <a:ext cx="66111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Tools &amp; Libraries Used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6949440" y="8302752"/>
            <a:ext cx="566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82B52"/>
                </a:solidFill>
                <a:latin typeface="Aptos"/>
              </a:rPr>
              <a:t>🐍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858000" y="8586216"/>
            <a:ext cx="7498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60" b="1">
                <a:solidFill>
                  <a:srgbClr val="232323"/>
                </a:solidFill>
                <a:latin typeface="Aptos"/>
              </a:rPr>
              <a:t>Python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6830568" y="8769096"/>
            <a:ext cx="8046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" b="0">
                <a:solidFill>
                  <a:srgbClr val="6E6E6E"/>
                </a:solidFill>
                <a:latin typeface="Aptos"/>
              </a:rPr>
              <a:t>Programming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8028431" y="8302752"/>
            <a:ext cx="566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82B52"/>
                </a:solidFill>
                <a:latin typeface="Aptos"/>
              </a:rPr>
              <a:t>▥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7936992" y="8586216"/>
            <a:ext cx="7498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60" b="1">
                <a:solidFill>
                  <a:srgbClr val="232323"/>
                </a:solidFill>
                <a:latin typeface="Aptos"/>
              </a:rPr>
              <a:t>Pandas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7909559" y="8769096"/>
            <a:ext cx="8046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" b="0">
                <a:solidFill>
                  <a:srgbClr val="6E6E6E"/>
                </a:solidFill>
                <a:latin typeface="Aptos"/>
              </a:rPr>
              <a:t>Data Manipulation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9107424" y="8302752"/>
            <a:ext cx="566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82B52"/>
                </a:solidFill>
                <a:latin typeface="Aptos"/>
              </a:rPr>
              <a:t>◈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9015984" y="8586216"/>
            <a:ext cx="7498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60" b="1">
                <a:solidFill>
                  <a:srgbClr val="232323"/>
                </a:solidFill>
                <a:latin typeface="Aptos"/>
              </a:rPr>
              <a:t>NumPy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8988551" y="8769096"/>
            <a:ext cx="8046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" b="0">
                <a:solidFill>
                  <a:srgbClr val="6E6E6E"/>
                </a:solidFill>
                <a:latin typeface="Aptos"/>
              </a:rPr>
              <a:t>Numerical Ops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0186415" y="8302752"/>
            <a:ext cx="566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82B52"/>
                </a:solidFill>
                <a:latin typeface="Aptos"/>
              </a:rPr>
              <a:t>◌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0094976" y="8586216"/>
            <a:ext cx="7498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60" b="1">
                <a:solidFill>
                  <a:srgbClr val="232323"/>
                </a:solidFill>
                <a:latin typeface="Aptos"/>
              </a:rPr>
              <a:t>Matplotlib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0067543" y="8769096"/>
            <a:ext cx="8046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" b="0">
                <a:solidFill>
                  <a:srgbClr val="6E6E6E"/>
                </a:solidFill>
                <a:latin typeface="Aptos"/>
              </a:rPr>
              <a:t>Visualization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11265407" y="8302752"/>
            <a:ext cx="566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82B52"/>
                </a:solidFill>
                <a:latin typeface="Aptos"/>
              </a:rPr>
              <a:t>≈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11173967" y="8586216"/>
            <a:ext cx="7498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60" b="1">
                <a:solidFill>
                  <a:srgbClr val="232323"/>
                </a:solidFill>
                <a:latin typeface="Aptos"/>
              </a:rPr>
              <a:t>Seaborn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11146535" y="8769096"/>
            <a:ext cx="8046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" b="0">
                <a:solidFill>
                  <a:srgbClr val="6E6E6E"/>
                </a:solidFill>
                <a:latin typeface="Aptos"/>
              </a:rPr>
              <a:t>Statistical Plots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2344399" y="8302752"/>
            <a:ext cx="566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82B52"/>
                </a:solidFill>
                <a:latin typeface="Aptos"/>
              </a:rPr>
              <a:t>J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2252959" y="8586216"/>
            <a:ext cx="7498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60" b="1">
                <a:solidFill>
                  <a:srgbClr val="232323"/>
                </a:solidFill>
                <a:latin typeface="Aptos"/>
              </a:rPr>
              <a:t>Jupyter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2225527" y="8769096"/>
            <a:ext cx="8046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" b="0">
                <a:solidFill>
                  <a:srgbClr val="6E6E6E"/>
                </a:solidFill>
                <a:latin typeface="Aptos"/>
              </a:rPr>
              <a:t>Notebook Development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10469880" y="8961120"/>
            <a:ext cx="274320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480" b="0">
                <a:solidFill>
                  <a:srgbClr val="6E6E6E"/>
                </a:solidFill>
                <a:latin typeface="Aptos"/>
              </a:rPr>
              <a:t>Editable PowerPoint recreation • Text, shapes, tables &amp; charts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